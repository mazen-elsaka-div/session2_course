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back! Say: 'Last time we learned what a computer is and its parts. Today we learn HOW we talk to computers and how they talk back!'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agenda so students know what to expect. Takes about 1 minute.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each question out loud. Pause 5 seconds. Then reveal the answer. Ask students to type in chat or say it aloud. Keep it quick — 3 minutes max.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'When you type on a keyboard, that's INPUT — you're sending info TO the computer. When the computer shows something on screen, that's OUTPUT — the computer is sending info back to YOU.'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Analogy: 'When you talk to a friend, your voice is INPUT — you're giving them information. Same with a computer!'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Activity: Ask each student to press a letter and hold it up to camera, or type it in chat.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on laptops use a trackpad — that is also a mouse input device. Let them know this.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out that they're using a microphone RIGHT NOW in this Zoom call! That makes it very real for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Tell them: 'Your Zoom camera is a webcam — an input device sending your face to everyone else!' Ask them to wave.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verbal recall. Point to each card without showing the name. See if students remember. Great energy moment!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Analogy: 'When your friend replies to you, their voice is OUTPUT — they're giving information back. The computer does the same with a screen, speaker or printer!'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Ask: 'What are you looking at right now?' — the answer is a MONITOR! Makes it very concrete.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Tell them: 'You can hear my voice right now through your SPEAKERS — that is output from the computer coming to you!'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Ask: 'Who has a printer at home?' or 'Have you printed something at school?' This connects it to real life.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as Input summary — cover the name and ask students to guess. Then reveal. Energy check before the activity.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this out loud: 'INPUT goes IN to the computer. OUTPUT comes OUT of the computer.' Ask them to repeat it with you 3 times — repetition helps kids remember!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 card by card. Cover the answer badge if possible (or use a black box overlay). Show the device, pause 5 seconds, then ask students to raise hands. 1 hand = Input, 2 hands = Output. Reveal after.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each question aloud. Cover the hint column if you want (or use a black shape overlay). Pause 8 seconds. Then reveal hint. Celebrate every correct answer!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both tasks. Encourage parents to help. Tell them next session is about how the computer 'thinks' — CPU and Memory! End with a big 'Well done, amazing work today!'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1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97280"/>
            <a:ext cx="4114800" cy="4114800"/>
          </a:xfrm>
          <a:prstGeom prst="ellipse">
            <a:avLst/>
          </a:prstGeom>
          <a:solidFill>
            <a:srgbClr val="033740"/>
          </a:solidFill>
          <a:ln w="12700">
            <a:solidFill>
              <a:srgbClr val="0337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3200400"/>
            <a:ext cx="3200400" cy="3200400"/>
          </a:xfrm>
          <a:prstGeom prst="ellipse">
            <a:avLst/>
          </a:prstGeom>
          <a:solidFill>
            <a:srgbClr val="033740"/>
          </a:solidFill>
          <a:ln w="12700">
            <a:solidFill>
              <a:srgbClr val="0337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4754880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548640"/>
            <a:ext cx="1280160" cy="128016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640" y="548640"/>
            <a:ext cx="1280160" cy="128016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365760" y="1920240"/>
            <a:ext cx="4023360" cy="27432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365760" y="2011680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</a:t>
            </a:r>
            <a:endParaRPr lang="en-US" sz="2000" dirty="0"/>
          </a:p>
        </p:txBody>
      </p:sp>
      <p:sp>
        <p:nvSpPr>
          <p:cNvPr id="9" name="Text 5"/>
          <p:cNvSpPr/>
          <p:nvPr/>
        </p:nvSpPr>
        <p:spPr>
          <a:xfrm>
            <a:off x="274320" y="2560320"/>
            <a:ext cx="4206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&amp;</a:t>
            </a:r>
            <a:endParaRPr lang="en-US" sz="4600" dirty="0"/>
          </a:p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4600" dirty="0"/>
          </a:p>
        </p:txBody>
      </p:sp>
      <p:sp>
        <p:nvSpPr>
          <p:cNvPr id="10" name="Text 6"/>
          <p:cNvSpPr/>
          <p:nvPr/>
        </p:nvSpPr>
        <p:spPr>
          <a:xfrm>
            <a:off x="274320" y="402336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Ages 6–10  ·  Online via Zoom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5029200" y="914400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we talk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E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 computer?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5029200" y="2194560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how does it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back to us?</a:t>
            </a:r>
            <a:endParaRPr lang="en-US" sz="22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3657600"/>
            <a:ext cx="457200" cy="457200"/>
          </a:xfrm>
          <a:prstGeom prst="rect">
            <a:avLst/>
          </a:prstGeom>
        </p:spPr>
      </p:pic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3657600"/>
            <a:ext cx="457200" cy="457200"/>
          </a:xfrm>
          <a:prstGeom prst="rect">
            <a:avLst/>
          </a:prstGeom>
        </p:spPr>
      </p:pic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0" y="365760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ound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What We Will Do Today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87552"/>
            <a:ext cx="8412480" cy="594360"/>
          </a:xfrm>
          <a:prstGeom prst="roundRect">
            <a:avLst>
              <a:gd name="adj" fmla="val 15385"/>
            </a:avLst>
          </a:prstGeom>
          <a:solidFill>
            <a:srgbClr val="028090">
              <a:alpha val="12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38912" y="1024128"/>
            <a:ext cx="512064" cy="51206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02412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" y="1069848"/>
            <a:ext cx="429768" cy="4297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0200" y="987552"/>
            <a:ext cx="1280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2926080" y="987552"/>
            <a:ext cx="5760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memory check from Session 1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65760" y="1664208"/>
            <a:ext cx="8412480" cy="594360"/>
          </a:xfrm>
          <a:prstGeom prst="roundRect">
            <a:avLst>
              <a:gd name="adj" fmla="val 15385"/>
            </a:avLst>
          </a:prstGeom>
          <a:solidFill>
            <a:srgbClr val="F96167">
              <a:alpha val="12000"/>
            </a:srgbClr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38912" y="1700784"/>
            <a:ext cx="512064" cy="512064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38912" y="170078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" y="1746504"/>
            <a:ext cx="429768" cy="42976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600200" y="1664208"/>
            <a:ext cx="1280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2926080" y="1664208"/>
            <a:ext cx="5760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what Input means + 4 input devices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365760" y="2340864"/>
            <a:ext cx="8412480" cy="594360"/>
          </a:xfrm>
          <a:prstGeom prst="roundRect">
            <a:avLst>
              <a:gd name="adj" fmla="val 15385"/>
            </a:avLst>
          </a:prstGeom>
          <a:solidFill>
            <a:srgbClr val="F4A261">
              <a:alpha val="12000"/>
            </a:srgbClr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38912" y="2377440"/>
            <a:ext cx="512064" cy="512064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38912" y="237744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" y="2423160"/>
            <a:ext cx="429768" cy="42976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00200" y="2340864"/>
            <a:ext cx="1280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2926080" y="2340864"/>
            <a:ext cx="5760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what Output means + 3 output devices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365760" y="3017520"/>
            <a:ext cx="8412480" cy="594360"/>
          </a:xfrm>
          <a:prstGeom prst="roundRect">
            <a:avLst>
              <a:gd name="adj" fmla="val 15385"/>
            </a:avLst>
          </a:prstGeom>
          <a:solidFill>
            <a:srgbClr val="2DC653">
              <a:alpha val="12000"/>
            </a:srgbClr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438912" y="3054096"/>
            <a:ext cx="512064" cy="512064"/>
          </a:xfrm>
          <a:prstGeom prst="ellipse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438912" y="3054096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92" y="3099816"/>
            <a:ext cx="429768" cy="42976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600200" y="3017520"/>
            <a:ext cx="1280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2926080" y="3017520"/>
            <a:ext cx="5760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your hands — Input or Output?</a:t>
            </a:r>
            <a:endParaRPr lang="en-US" sz="1300" dirty="0"/>
          </a:p>
        </p:txBody>
      </p:sp>
      <p:sp>
        <p:nvSpPr>
          <p:cNvPr id="28" name="Shape 22"/>
          <p:cNvSpPr/>
          <p:nvPr/>
        </p:nvSpPr>
        <p:spPr>
          <a:xfrm>
            <a:off x="365760" y="3694176"/>
            <a:ext cx="8412480" cy="594360"/>
          </a:xfrm>
          <a:prstGeom prst="roundRect">
            <a:avLst>
              <a:gd name="adj" fmla="val 15385"/>
            </a:avLst>
          </a:prstGeom>
          <a:solidFill>
            <a:srgbClr val="5DB8C4">
              <a:alpha val="12000"/>
            </a:srgbClr>
          </a:solidFill>
          <a:ln w="12700">
            <a:solidFill>
              <a:srgbClr val="5DB8C4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438912" y="3730752"/>
            <a:ext cx="512064" cy="512064"/>
          </a:xfrm>
          <a:prstGeom prst="ellipse">
            <a:avLst/>
          </a:prstGeom>
          <a:solidFill>
            <a:srgbClr val="5DB8C4"/>
          </a:solidFill>
          <a:ln w="12700">
            <a:solidFill>
              <a:srgbClr val="5DB8C4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438912" y="373075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8992" y="3776472"/>
            <a:ext cx="429768" cy="429768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1600200" y="3694176"/>
            <a:ext cx="1280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D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</a:t>
            </a:r>
            <a:endParaRPr lang="en-US" sz="1400" dirty="0"/>
          </a:p>
        </p:txBody>
      </p:sp>
      <p:sp>
        <p:nvSpPr>
          <p:cNvPr id="33" name="Text 26"/>
          <p:cNvSpPr/>
          <p:nvPr/>
        </p:nvSpPr>
        <p:spPr>
          <a:xfrm>
            <a:off x="2926080" y="3694176"/>
            <a:ext cx="5760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quick questions in the chat</a:t>
            </a:r>
            <a:endParaRPr lang="en-US" sz="1300" dirty="0"/>
          </a:p>
        </p:txBody>
      </p:sp>
      <p:sp>
        <p:nvSpPr>
          <p:cNvPr id="34" name="Shape 27"/>
          <p:cNvSpPr/>
          <p:nvPr/>
        </p:nvSpPr>
        <p:spPr>
          <a:xfrm>
            <a:off x="365760" y="4370832"/>
            <a:ext cx="8412480" cy="594360"/>
          </a:xfrm>
          <a:prstGeom prst="roundRect">
            <a:avLst>
              <a:gd name="adj" fmla="val 15385"/>
            </a:avLst>
          </a:prstGeom>
          <a:solidFill>
            <a:srgbClr val="F4A261">
              <a:alpha val="12000"/>
            </a:srgbClr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438912" y="4407408"/>
            <a:ext cx="512064" cy="512064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6" name="Text 29"/>
          <p:cNvSpPr/>
          <p:nvPr/>
        </p:nvSpPr>
        <p:spPr>
          <a:xfrm>
            <a:off x="438912" y="44074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8992" y="4453128"/>
            <a:ext cx="429768" cy="429768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1600200" y="4370832"/>
            <a:ext cx="1280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400" dirty="0"/>
          </a:p>
        </p:txBody>
      </p:sp>
      <p:sp>
        <p:nvSpPr>
          <p:cNvPr id="39" name="Text 31"/>
          <p:cNvSpPr/>
          <p:nvPr/>
        </p:nvSpPr>
        <p:spPr>
          <a:xfrm>
            <a:off x="2926080" y="4370832"/>
            <a:ext cx="5760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and draw input &amp; output devices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0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ound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Quick Recap — What Did We Learn Last Time?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42976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07008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1560" y="1051560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computer?</a:t>
            </a:r>
            <a:endParaRPr lang="en-US" sz="14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307592"/>
            <a:ext cx="457200" cy="2743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394960" y="1051560"/>
            <a:ext cx="3383280" cy="777240"/>
          </a:xfrm>
          <a:prstGeom prst="roundRect">
            <a:avLst>
              <a:gd name="adj" fmla="val 11765"/>
            </a:avLst>
          </a:prstGeom>
          <a:solidFill>
            <a:srgbClr val="028090">
              <a:alpha val="85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486400" y="105156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smart machine that follows instructions!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365760" y="1984248"/>
            <a:ext cx="42976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139696"/>
            <a:ext cx="457200" cy="4572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51560" y="1984248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part helps us TYPE?</a:t>
            </a:r>
            <a:endParaRPr lang="en-US" sz="14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2240280"/>
            <a:ext cx="457200" cy="27432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5394960" y="1984248"/>
            <a:ext cx="3383280" cy="777240"/>
          </a:xfrm>
          <a:prstGeom prst="roundRect">
            <a:avLst>
              <a:gd name="adj" fmla="val 11765"/>
            </a:avLst>
          </a:prstGeom>
          <a:solidFill>
            <a:srgbClr val="028090">
              <a:alpha val="85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9"/>
          <p:cNvSpPr/>
          <p:nvPr/>
        </p:nvSpPr>
        <p:spPr>
          <a:xfrm>
            <a:off x="5486400" y="1984248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Keyboard!</a:t>
            </a:r>
            <a:endParaRPr lang="en-US" sz="1400" dirty="0"/>
          </a:p>
        </p:txBody>
      </p:sp>
      <p:sp>
        <p:nvSpPr>
          <p:cNvPr id="16" name="Shape 10"/>
          <p:cNvSpPr/>
          <p:nvPr/>
        </p:nvSpPr>
        <p:spPr>
          <a:xfrm>
            <a:off x="365760" y="2916936"/>
            <a:ext cx="42976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072384"/>
            <a:ext cx="457200" cy="4572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051560" y="2916936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part helps us SEE?</a:t>
            </a:r>
            <a:endParaRPr lang="en-US" sz="140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0600" y="3172968"/>
            <a:ext cx="457200" cy="27432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5394960" y="2916936"/>
            <a:ext cx="3383280" cy="777240"/>
          </a:xfrm>
          <a:prstGeom prst="roundRect">
            <a:avLst>
              <a:gd name="adj" fmla="val 11765"/>
            </a:avLst>
          </a:prstGeom>
          <a:solidFill>
            <a:srgbClr val="028090">
              <a:alpha val="85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3"/>
          <p:cNvSpPr/>
          <p:nvPr/>
        </p:nvSpPr>
        <p:spPr>
          <a:xfrm>
            <a:off x="5486400" y="2916936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Monitor!</a:t>
            </a:r>
            <a:endParaRPr lang="en-US" sz="1400" dirty="0"/>
          </a:p>
        </p:txBody>
      </p:sp>
      <p:sp>
        <p:nvSpPr>
          <p:cNvPr id="22" name="Shape 14"/>
          <p:cNvSpPr/>
          <p:nvPr/>
        </p:nvSpPr>
        <p:spPr>
          <a:xfrm>
            <a:off x="365760" y="3849624"/>
            <a:ext cx="42976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" y="4005072"/>
            <a:ext cx="457200" cy="457200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1051560" y="3849624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part helps us CLICK?</a:t>
            </a:r>
            <a:endParaRPr lang="en-US" sz="1400" dirty="0"/>
          </a:p>
        </p:txBody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00600" y="4105656"/>
            <a:ext cx="457200" cy="274320"/>
          </a:xfrm>
          <a:prstGeom prst="rect">
            <a:avLst/>
          </a:prstGeom>
        </p:spPr>
      </p:pic>
      <p:sp>
        <p:nvSpPr>
          <p:cNvPr id="26" name="Shape 16"/>
          <p:cNvSpPr/>
          <p:nvPr/>
        </p:nvSpPr>
        <p:spPr>
          <a:xfrm>
            <a:off x="5394960" y="3849624"/>
            <a:ext cx="3383280" cy="777240"/>
          </a:xfrm>
          <a:prstGeom prst="roundRect">
            <a:avLst>
              <a:gd name="adj" fmla="val 11765"/>
            </a:avLst>
          </a:prstGeom>
          <a:solidFill>
            <a:srgbClr val="028090">
              <a:alpha val="85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7" name="Text 17"/>
          <p:cNvSpPr/>
          <p:nvPr/>
        </p:nvSpPr>
        <p:spPr>
          <a:xfrm>
            <a:off x="5486400" y="3849624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Mouse!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21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97280"/>
            <a:ext cx="4114800" cy="4114800"/>
          </a:xfrm>
          <a:prstGeom prst="ellipse">
            <a:avLst/>
          </a:prstGeom>
          <a:solidFill>
            <a:srgbClr val="033740"/>
          </a:solidFill>
          <a:ln w="12700">
            <a:solidFill>
              <a:srgbClr val="0337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3200400"/>
            <a:ext cx="3200400" cy="3200400"/>
          </a:xfrm>
          <a:prstGeom prst="ellipse">
            <a:avLst/>
          </a:prstGeom>
          <a:solidFill>
            <a:srgbClr val="033740"/>
          </a:solidFill>
          <a:ln w="12700">
            <a:solidFill>
              <a:srgbClr val="03374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We Talk to a Computer? 🤔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how does the computer talk BACK to us?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1828800"/>
            <a:ext cx="3474720" cy="2560320"/>
          </a:xfrm>
          <a:prstGeom prst="roundRect">
            <a:avLst>
              <a:gd name="adj" fmla="val 5357"/>
            </a:avLst>
          </a:prstGeom>
          <a:solidFill>
            <a:srgbClr val="033740"/>
          </a:solidFill>
          <a:ln w="12700">
            <a:solidFill>
              <a:srgbClr val="5DB8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92024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365760" y="28346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7200" y="329184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D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Type, click, speak,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D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 photo…</a:t>
            </a:r>
            <a:endParaRPr lang="en-US" sz="13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05072" y="2560320"/>
            <a:ext cx="640080" cy="4572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913632" y="301752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0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5072" y="3566160"/>
            <a:ext cx="64008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858768" y="4005072"/>
            <a:ext cx="960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937760" y="1828800"/>
            <a:ext cx="3840480" cy="2560320"/>
          </a:xfrm>
          <a:prstGeom prst="roundRect">
            <a:avLst>
              <a:gd name="adj" fmla="val 5357"/>
            </a:avLst>
          </a:prstGeom>
          <a:solidFill>
            <a:srgbClr val="033740"/>
          </a:solidFill>
          <a:ln w="12700">
            <a:solidFill>
              <a:srgbClr val="5DB8C4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937760" y="192024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</a:t>
            </a:r>
            <a:endParaRPr lang="en-US" sz="5200" dirty="0"/>
          </a:p>
        </p:txBody>
      </p:sp>
      <p:sp>
        <p:nvSpPr>
          <p:cNvPr id="16" name="Text 12"/>
          <p:cNvSpPr/>
          <p:nvPr/>
        </p:nvSpPr>
        <p:spPr>
          <a:xfrm>
            <a:off x="4937760" y="28346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</a:t>
            </a:r>
            <a:endParaRPr lang="en-US" sz="2000" dirty="0"/>
          </a:p>
        </p:txBody>
      </p:sp>
      <p:sp>
        <p:nvSpPr>
          <p:cNvPr id="17" name="Text 13"/>
          <p:cNvSpPr/>
          <p:nvPr/>
        </p:nvSpPr>
        <p:spPr>
          <a:xfrm>
            <a:off x="5029200" y="329184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D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on screen, play sound,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D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on paper…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EE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" y="36576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5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508760"/>
            <a:ext cx="1645920" cy="1645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82880" y="3291840"/>
            <a:ext cx="3474720" cy="1554480"/>
          </a:xfrm>
          <a:prstGeom prst="roundRect">
            <a:avLst>
              <a:gd name="adj" fmla="val 7059"/>
            </a:avLst>
          </a:prstGeom>
          <a:solidFill>
            <a:srgbClr val="C73D42">
              <a:alpha val="7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28600" y="3310128"/>
            <a:ext cx="3383280" cy="1517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= Sending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TO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computer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114800" y="228600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INPUT? 🎤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4114800" y="1051560"/>
            <a:ext cx="466344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96167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4528" y="1124712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709160" y="1051560"/>
            <a:ext cx="3977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give information TO the computer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4114800" y="1856232"/>
            <a:ext cx="466344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96167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4528" y="1929384"/>
            <a:ext cx="411480" cy="4114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709160" y="1856232"/>
            <a:ext cx="3977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tell the computer what to do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4114800" y="2660904"/>
            <a:ext cx="466344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96167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4528" y="2734056"/>
            <a:ext cx="411480" cy="41148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709160" y="2660904"/>
            <a:ext cx="3977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computer LISTENS and receives it</a:t>
            </a:r>
            <a:endParaRPr lang="en-US" sz="1300" dirty="0"/>
          </a:p>
        </p:txBody>
      </p:sp>
      <p:sp>
        <p:nvSpPr>
          <p:cNvPr id="17" name="Shape 11"/>
          <p:cNvSpPr/>
          <p:nvPr/>
        </p:nvSpPr>
        <p:spPr>
          <a:xfrm>
            <a:off x="4114800" y="3520440"/>
            <a:ext cx="46634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96167"/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51960" y="3657600"/>
            <a:ext cx="502920" cy="50292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4828032" y="3547872"/>
            <a:ext cx="3840480" cy="1316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like talking to a friend!</a:t>
            </a:r>
            <a:endParaRPr lang="en-US" sz="1250" dirty="0"/>
          </a:p>
          <a:p>
            <a:pPr indent="0" marL="0">
              <a:buNone/>
            </a:pPr>
            <a:r>
              <a:rPr lang="en-US" sz="1250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speak — that is INPUT.</a:t>
            </a:r>
            <a:endParaRPr lang="en-US" sz="1250" dirty="0"/>
          </a:p>
          <a:p>
            <a:pPr indent="0" marL="0">
              <a:buNone/>
            </a:pPr>
            <a:r>
              <a:rPr lang="en-US" sz="1250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giving information to someone.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ound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⌨️  Input Device 1 — The Keyboard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3657600" cy="3657600"/>
          </a:xfrm>
          <a:prstGeom prst="ellipse">
            <a:avLst/>
          </a:prstGeom>
          <a:solidFill>
            <a:srgbClr val="FEE8E9"/>
          </a:solidFill>
          <a:ln w="12700">
            <a:solidFill>
              <a:srgbClr val="F96167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508760"/>
            <a:ext cx="2651760" cy="26517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251960" y="1051560"/>
            <a:ext cx="4572000" cy="685800"/>
          </a:xfrm>
          <a:prstGeom prst="roundRect">
            <a:avLst>
              <a:gd name="adj" fmla="val 13333"/>
            </a:avLst>
          </a:prstGeom>
          <a:solidFill>
            <a:srgbClr val="FEE8E9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343400" y="1051560"/>
            <a:ext cx="4389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⌨️  Types letters  A, B, C…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251960" y="1856232"/>
            <a:ext cx="4572000" cy="685800"/>
          </a:xfrm>
          <a:prstGeom prst="roundRect">
            <a:avLst>
              <a:gd name="adj" fmla="val 13333"/>
            </a:avLst>
          </a:prstGeom>
          <a:solidFill>
            <a:srgbClr val="FEE8E9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343400" y="1856232"/>
            <a:ext cx="4389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⌨️  Types numbers  1, 2, 3…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251960" y="2660904"/>
            <a:ext cx="4572000" cy="685800"/>
          </a:xfrm>
          <a:prstGeom prst="roundRect">
            <a:avLst>
              <a:gd name="adj" fmla="val 13333"/>
            </a:avLst>
          </a:prstGeom>
          <a:solidFill>
            <a:srgbClr val="FEE8E9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343400" y="2660904"/>
            <a:ext cx="4389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⌨️  Writes words and sentences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251960" y="3465576"/>
            <a:ext cx="4572000" cy="685800"/>
          </a:xfrm>
          <a:prstGeom prst="roundRect">
            <a:avLst>
              <a:gd name="adj" fmla="val 13333"/>
            </a:avLst>
          </a:prstGeom>
          <a:solidFill>
            <a:srgbClr val="FEE8E9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343400" y="3465576"/>
            <a:ext cx="4389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⌨️  Has special keys: Enter, Space, Delete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251960" y="4251960"/>
            <a:ext cx="4572000" cy="685800"/>
          </a:xfrm>
          <a:prstGeom prst="roundRect">
            <a:avLst>
              <a:gd name="adj" fmla="val 13333"/>
            </a:avLst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297680" y="4251960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✓  — It sends typing TO the computer!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320040" y="468172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Find the letter M on your keyboard right now!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ound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🖱️  Input Device 2 — The Mouse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3657600" cy="3657600"/>
          </a:xfrm>
          <a:prstGeom prst="ellipse">
            <a:avLst/>
          </a:prstGeom>
          <a:solidFill>
            <a:srgbClr val="FEE8E9"/>
          </a:solidFill>
          <a:ln w="12700">
            <a:solidFill>
              <a:srgbClr val="F96167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508760"/>
            <a:ext cx="2651760" cy="26517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251960" y="1051560"/>
            <a:ext cx="4572000" cy="685800"/>
          </a:xfrm>
          <a:prstGeom prst="roundRect">
            <a:avLst>
              <a:gd name="adj" fmla="val 13333"/>
            </a:avLst>
          </a:prstGeom>
          <a:solidFill>
            <a:srgbClr val="FEE8E9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343400" y="1051560"/>
            <a:ext cx="4389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🖱️  Single click — selects items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251960" y="1856232"/>
            <a:ext cx="4572000" cy="685800"/>
          </a:xfrm>
          <a:prstGeom prst="roundRect">
            <a:avLst>
              <a:gd name="adj" fmla="val 13333"/>
            </a:avLst>
          </a:prstGeom>
          <a:solidFill>
            <a:srgbClr val="FEE8E9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343400" y="1856232"/>
            <a:ext cx="4389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🖱️  Double click — opens files &amp; programs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251960" y="2660904"/>
            <a:ext cx="4572000" cy="685800"/>
          </a:xfrm>
          <a:prstGeom prst="roundRect">
            <a:avLst>
              <a:gd name="adj" fmla="val 13333"/>
            </a:avLst>
          </a:prstGeom>
          <a:solidFill>
            <a:srgbClr val="FEE8E9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343400" y="2660904"/>
            <a:ext cx="4389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🖱️  Right click — shows extra options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251960" y="3465576"/>
            <a:ext cx="4572000" cy="685800"/>
          </a:xfrm>
          <a:prstGeom prst="roundRect">
            <a:avLst>
              <a:gd name="adj" fmla="val 13333"/>
            </a:avLst>
          </a:prstGeom>
          <a:solidFill>
            <a:srgbClr val="FEE8E9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343400" y="3465576"/>
            <a:ext cx="4389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🖱️  Scroll wheel — moves up and down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251960" y="4251960"/>
            <a:ext cx="4572000" cy="685800"/>
          </a:xfrm>
          <a:prstGeom prst="roundRect">
            <a:avLst>
              <a:gd name="adj" fmla="val 13333"/>
            </a:avLst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297680" y="4251960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✓  — It sends clicks &amp; movement TO the computer!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320040" y="468172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Show me: left click, then right click!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ound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🎤  Input Device 3 — The Microphone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3657600" cy="3657600"/>
          </a:xfrm>
          <a:prstGeom prst="ellipse">
            <a:avLst/>
          </a:prstGeom>
          <a:solidFill>
            <a:srgbClr val="FEE8E9"/>
          </a:solidFill>
          <a:ln w="12700">
            <a:solidFill>
              <a:srgbClr val="F96167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508760"/>
            <a:ext cx="2651760" cy="26517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251960" y="1051560"/>
            <a:ext cx="4572000" cy="685800"/>
          </a:xfrm>
          <a:prstGeom prst="roundRect">
            <a:avLst>
              <a:gd name="adj" fmla="val 13333"/>
            </a:avLst>
          </a:prstGeom>
          <a:solidFill>
            <a:srgbClr val="FEE8E9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343400" y="1051560"/>
            <a:ext cx="4389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🎤  Records your voice to the computer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251960" y="1856232"/>
            <a:ext cx="4572000" cy="685800"/>
          </a:xfrm>
          <a:prstGeom prst="roundRect">
            <a:avLst>
              <a:gd name="adj" fmla="val 13333"/>
            </a:avLst>
          </a:prstGeom>
          <a:solidFill>
            <a:srgbClr val="FEE8E9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343400" y="1856232"/>
            <a:ext cx="4389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🎤  Used in video calls (like Zoom!)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251960" y="2660904"/>
            <a:ext cx="4572000" cy="685800"/>
          </a:xfrm>
          <a:prstGeom prst="roundRect">
            <a:avLst>
              <a:gd name="adj" fmla="val 13333"/>
            </a:avLst>
          </a:prstGeom>
          <a:solidFill>
            <a:srgbClr val="FEE8E9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343400" y="2660904"/>
            <a:ext cx="4389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🎤  Used to give voice commands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251960" y="3465576"/>
            <a:ext cx="4572000" cy="685800"/>
          </a:xfrm>
          <a:prstGeom prst="roundRect">
            <a:avLst>
              <a:gd name="adj" fmla="val 13333"/>
            </a:avLst>
          </a:prstGeom>
          <a:solidFill>
            <a:srgbClr val="FEE8E9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343400" y="3465576"/>
            <a:ext cx="4389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🎤  Used to make recordings &amp; podcasts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251960" y="4251960"/>
            <a:ext cx="4572000" cy="685800"/>
          </a:xfrm>
          <a:prstGeom prst="roundRect">
            <a:avLst>
              <a:gd name="adj" fmla="val 13333"/>
            </a:avLst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297680" y="4251960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✓  — It sends your voice TO the computer!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320040" y="468172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Right now you are using a microphone!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ound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 Input Device 4 — The Camera / Webcam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3657600" cy="3657600"/>
          </a:xfrm>
          <a:prstGeom prst="ellipse">
            <a:avLst/>
          </a:prstGeom>
          <a:solidFill>
            <a:srgbClr val="FEE8E9"/>
          </a:solidFill>
          <a:ln w="12700">
            <a:solidFill>
              <a:srgbClr val="F96167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508760"/>
            <a:ext cx="2651760" cy="26517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251960" y="1051560"/>
            <a:ext cx="4572000" cy="685800"/>
          </a:xfrm>
          <a:prstGeom prst="roundRect">
            <a:avLst>
              <a:gd name="adj" fmla="val 13333"/>
            </a:avLst>
          </a:prstGeom>
          <a:solidFill>
            <a:srgbClr val="FEE8E9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343400" y="1051560"/>
            <a:ext cx="4389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D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 Takes photos and sends them to computer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4251960" y="1856232"/>
            <a:ext cx="4572000" cy="685800"/>
          </a:xfrm>
          <a:prstGeom prst="roundRect">
            <a:avLst>
              <a:gd name="adj" fmla="val 13333"/>
            </a:avLst>
          </a:prstGeom>
          <a:solidFill>
            <a:srgbClr val="FEE8E9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343400" y="1856232"/>
            <a:ext cx="4389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D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 Records videos for the computer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4251960" y="2660904"/>
            <a:ext cx="4572000" cy="685800"/>
          </a:xfrm>
          <a:prstGeom prst="roundRect">
            <a:avLst>
              <a:gd name="adj" fmla="val 13333"/>
            </a:avLst>
          </a:prstGeom>
          <a:solidFill>
            <a:srgbClr val="FEE8E9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343400" y="2660904"/>
            <a:ext cx="4389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D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 Used in video calls to show your face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4251960" y="3465576"/>
            <a:ext cx="4572000" cy="685800"/>
          </a:xfrm>
          <a:prstGeom prst="roundRect">
            <a:avLst>
              <a:gd name="adj" fmla="val 13333"/>
            </a:avLst>
          </a:prstGeom>
          <a:solidFill>
            <a:srgbClr val="FEE8E9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343400" y="3465576"/>
            <a:ext cx="4389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D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 Used to scan documents and QR codes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4251960" y="4251960"/>
            <a:ext cx="4572000" cy="685800"/>
          </a:xfrm>
          <a:prstGeom prst="roundRect">
            <a:avLst>
              <a:gd name="adj" fmla="val 13333"/>
            </a:avLst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297680" y="4251960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✓  — It sends pictures &amp; video TO the computer!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320040" y="468172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Your webcam is on right now — wave hello!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All INPUT Devices — Can You Name Them?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987552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= Sending information TO the computer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0040" y="1554480"/>
            <a:ext cx="2011680" cy="3200400"/>
          </a:xfrm>
          <a:prstGeom prst="roundRect">
            <a:avLst>
              <a:gd name="adj" fmla="val 6364"/>
            </a:avLst>
          </a:prstGeom>
          <a:solidFill>
            <a:srgbClr val="FEE8E9"/>
          </a:solidFill>
          <a:ln w="12700">
            <a:solidFill>
              <a:srgbClr val="F96167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719072"/>
            <a:ext cx="1280160" cy="1280160"/>
          </a:xfrm>
          <a:prstGeom prst="ellipse">
            <a:avLst/>
          </a:prstGeom>
          <a:solidFill>
            <a:srgbClr val="F96167">
              <a:alpha val="80000"/>
            </a:srgbClr>
          </a:solidFill>
          <a:ln w="12700">
            <a:solidFill>
              <a:srgbClr val="F96167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810512"/>
            <a:ext cx="1097280" cy="10972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20040" y="30632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Keyboard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11480" y="3566160"/>
            <a:ext cx="1828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D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type letters &amp; numbers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1069848" y="4526280"/>
            <a:ext cx="502920" cy="50292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69848" y="4526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2468880" y="1554480"/>
            <a:ext cx="2011680" cy="3200400"/>
          </a:xfrm>
          <a:prstGeom prst="roundRect">
            <a:avLst>
              <a:gd name="adj" fmla="val 6364"/>
            </a:avLst>
          </a:prstGeom>
          <a:solidFill>
            <a:srgbClr val="FEE8E9"/>
          </a:solidFill>
          <a:ln w="12700">
            <a:solidFill>
              <a:srgbClr val="F96167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834640" y="1719072"/>
            <a:ext cx="1280160" cy="1280160"/>
          </a:xfrm>
          <a:prstGeom prst="ellipse">
            <a:avLst/>
          </a:prstGeom>
          <a:solidFill>
            <a:srgbClr val="F96167">
              <a:alpha val="80000"/>
            </a:srgbClr>
          </a:solidFill>
          <a:ln w="12700">
            <a:solidFill>
              <a:srgbClr val="F96167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0" y="1810512"/>
            <a:ext cx="1097280" cy="10972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468880" y="30632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Mouse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2560320" y="3566160"/>
            <a:ext cx="1828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D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click and move things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3218688" y="4526280"/>
            <a:ext cx="502920" cy="50292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3218688" y="4526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4617720" y="1554480"/>
            <a:ext cx="2011680" cy="3200400"/>
          </a:xfrm>
          <a:prstGeom prst="roundRect">
            <a:avLst>
              <a:gd name="adj" fmla="val 6364"/>
            </a:avLst>
          </a:prstGeom>
          <a:solidFill>
            <a:srgbClr val="FEE8E9"/>
          </a:solidFill>
          <a:ln w="12700">
            <a:solidFill>
              <a:srgbClr val="F96167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4983480" y="1719072"/>
            <a:ext cx="1280160" cy="1280160"/>
          </a:xfrm>
          <a:prstGeom prst="ellipse">
            <a:avLst/>
          </a:prstGeom>
          <a:solidFill>
            <a:srgbClr val="F96167">
              <a:alpha val="80000"/>
            </a:srgbClr>
          </a:solidFill>
          <a:ln w="12700">
            <a:solidFill>
              <a:srgbClr val="F96167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920" y="1810512"/>
            <a:ext cx="1097280" cy="109728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4617720" y="30632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Microphone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4709160" y="3566160"/>
            <a:ext cx="1828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D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record our voice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5367528" y="4526280"/>
            <a:ext cx="502920" cy="50292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5367528" y="4526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6" name="Shape 21"/>
          <p:cNvSpPr/>
          <p:nvPr/>
        </p:nvSpPr>
        <p:spPr>
          <a:xfrm>
            <a:off x="6766560" y="1554480"/>
            <a:ext cx="2011680" cy="3200400"/>
          </a:xfrm>
          <a:prstGeom prst="roundRect">
            <a:avLst>
              <a:gd name="adj" fmla="val 6364"/>
            </a:avLst>
          </a:prstGeom>
          <a:solidFill>
            <a:srgbClr val="FEE8E9"/>
          </a:solidFill>
          <a:ln w="12700">
            <a:solidFill>
              <a:srgbClr val="F96167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7132320" y="1719072"/>
            <a:ext cx="1280160" cy="1280160"/>
          </a:xfrm>
          <a:prstGeom prst="ellipse">
            <a:avLst/>
          </a:prstGeom>
          <a:solidFill>
            <a:srgbClr val="F96167">
              <a:alpha val="80000"/>
            </a:srgbClr>
          </a:solidFill>
          <a:ln w="12700">
            <a:solidFill>
              <a:srgbClr val="F96167"/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0" y="1810512"/>
            <a:ext cx="1097280" cy="109728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6766560" y="30632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</a:t>
            </a:r>
            <a:endParaRPr lang="en-US" sz="1400" dirty="0"/>
          </a:p>
        </p:txBody>
      </p:sp>
      <p:sp>
        <p:nvSpPr>
          <p:cNvPr id="30" name="Text 24"/>
          <p:cNvSpPr/>
          <p:nvPr/>
        </p:nvSpPr>
        <p:spPr>
          <a:xfrm>
            <a:off x="6858000" y="3566160"/>
            <a:ext cx="1828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D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send photos &amp; video</a:t>
            </a:r>
            <a:endParaRPr lang="en-US" sz="1150" dirty="0"/>
          </a:p>
        </p:txBody>
      </p:sp>
      <p:sp>
        <p:nvSpPr>
          <p:cNvPr id="31" name="Shape 25"/>
          <p:cNvSpPr/>
          <p:nvPr/>
        </p:nvSpPr>
        <p:spPr>
          <a:xfrm>
            <a:off x="7516368" y="4526280"/>
            <a:ext cx="502920" cy="50292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7516368" y="4526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3" name="Text 27"/>
          <p:cNvSpPr/>
          <p:nvPr/>
        </p:nvSpPr>
        <p:spPr>
          <a:xfrm>
            <a:off x="320040" y="4864608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👉  Point at each one — can you say what it does?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E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" y="36576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4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508760"/>
            <a:ext cx="1645920" cy="1645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82880" y="3291840"/>
            <a:ext cx="3474720" cy="1554480"/>
          </a:xfrm>
          <a:prstGeom prst="roundRect">
            <a:avLst>
              <a:gd name="adj" fmla="val 7059"/>
            </a:avLst>
          </a:prstGeom>
          <a:solidFill>
            <a:srgbClr val="C97D3C">
              <a:alpha val="7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28600" y="3310128"/>
            <a:ext cx="3383280" cy="1517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= Receiving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FROM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computer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114800" y="228600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7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OUTPUT? 🔊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4114800" y="1051560"/>
            <a:ext cx="466344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4528" y="1124712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709160" y="1051560"/>
            <a:ext cx="3977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computer gives information TO YOU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4114800" y="1856232"/>
            <a:ext cx="466344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4528" y="1929384"/>
            <a:ext cx="411480" cy="4114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709160" y="1856232"/>
            <a:ext cx="3977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computer shows or plays its answer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4114800" y="2660904"/>
            <a:ext cx="466344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4528" y="2734056"/>
            <a:ext cx="411480" cy="41148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709160" y="2660904"/>
            <a:ext cx="3977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see, hear, or read the result</a:t>
            </a:r>
            <a:endParaRPr lang="en-US" sz="1300" dirty="0"/>
          </a:p>
        </p:txBody>
      </p:sp>
      <p:sp>
        <p:nvSpPr>
          <p:cNvPr id="17" name="Shape 11"/>
          <p:cNvSpPr/>
          <p:nvPr/>
        </p:nvSpPr>
        <p:spPr>
          <a:xfrm>
            <a:off x="4114800" y="3520440"/>
            <a:ext cx="46634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51960" y="3657600"/>
            <a:ext cx="502920" cy="50292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4828032" y="3547872"/>
            <a:ext cx="3840480" cy="1316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97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like a friend replying to you!</a:t>
            </a:r>
            <a:endParaRPr lang="en-US" sz="1250" dirty="0"/>
          </a:p>
          <a:p>
            <a:pPr indent="0" marL="0">
              <a:buNone/>
            </a:pPr>
            <a:r>
              <a:rPr lang="en-US" sz="1250" i="1" dirty="0">
                <a:solidFill>
                  <a:srgbClr val="C97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THEY speak back — that is OUTPUT.</a:t>
            </a:r>
            <a:endParaRPr lang="en-US" sz="1250" dirty="0"/>
          </a:p>
          <a:p>
            <a:pPr indent="0" marL="0">
              <a:buNone/>
            </a:pPr>
            <a:r>
              <a:rPr lang="en-US" sz="1250" i="1" dirty="0">
                <a:solidFill>
                  <a:srgbClr val="C97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computer is giving you information.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ound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 Output Device 1 — The Monitor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3657600" cy="3657600"/>
          </a:xfrm>
          <a:prstGeom prst="ellipse">
            <a:avLst/>
          </a:prstGeom>
          <a:solidFill>
            <a:srgbClr val="FEF3E9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508760"/>
            <a:ext cx="2651760" cy="26517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251960" y="1051560"/>
            <a:ext cx="4572000" cy="685800"/>
          </a:xfrm>
          <a:prstGeom prst="roundRect">
            <a:avLst>
              <a:gd name="adj" fmla="val 13333"/>
            </a:avLst>
          </a:prstGeom>
          <a:solidFill>
            <a:srgbClr val="FEF3E9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343400" y="1051560"/>
            <a:ext cx="4389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 Shows pictures and photos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251960" y="1856232"/>
            <a:ext cx="4572000" cy="685800"/>
          </a:xfrm>
          <a:prstGeom prst="roundRect">
            <a:avLst>
              <a:gd name="adj" fmla="val 13333"/>
            </a:avLst>
          </a:prstGeom>
          <a:solidFill>
            <a:srgbClr val="FEF3E9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343400" y="1856232"/>
            <a:ext cx="4389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 Plays videos and movies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251960" y="2660904"/>
            <a:ext cx="4572000" cy="685800"/>
          </a:xfrm>
          <a:prstGeom prst="roundRect">
            <a:avLst>
              <a:gd name="adj" fmla="val 13333"/>
            </a:avLst>
          </a:prstGeom>
          <a:solidFill>
            <a:srgbClr val="FEF3E9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343400" y="2660904"/>
            <a:ext cx="4389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 Displays games on screen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251960" y="3465576"/>
            <a:ext cx="4572000" cy="685800"/>
          </a:xfrm>
          <a:prstGeom prst="roundRect">
            <a:avLst>
              <a:gd name="adj" fmla="val 13333"/>
            </a:avLst>
          </a:prstGeom>
          <a:solidFill>
            <a:srgbClr val="FEF3E9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343400" y="3465576"/>
            <a:ext cx="4389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 Shows text, words and numbers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251960" y="4251960"/>
            <a:ext cx="4572000" cy="685800"/>
          </a:xfrm>
          <a:prstGeom prst="roundRect">
            <a:avLst>
              <a:gd name="adj" fmla="val 13333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297680" y="4251960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✓  — It shows information FROM the computer!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320040" y="468172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7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🤔  What are YOU looking at right now?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ound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🔊  Output Device 2 — Speakers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3657600" cy="3657600"/>
          </a:xfrm>
          <a:prstGeom prst="ellipse">
            <a:avLst/>
          </a:prstGeom>
          <a:solidFill>
            <a:srgbClr val="FEF3E9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508760"/>
            <a:ext cx="2651760" cy="26517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251960" y="1051560"/>
            <a:ext cx="4572000" cy="685800"/>
          </a:xfrm>
          <a:prstGeom prst="roundRect">
            <a:avLst>
              <a:gd name="adj" fmla="val 13333"/>
            </a:avLst>
          </a:prstGeom>
          <a:solidFill>
            <a:srgbClr val="FEF3E9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343400" y="1051560"/>
            <a:ext cx="4389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🔊  Plays music and songs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251960" y="1856232"/>
            <a:ext cx="4572000" cy="685800"/>
          </a:xfrm>
          <a:prstGeom prst="roundRect">
            <a:avLst>
              <a:gd name="adj" fmla="val 13333"/>
            </a:avLst>
          </a:prstGeom>
          <a:solidFill>
            <a:srgbClr val="FEF3E9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343400" y="1856232"/>
            <a:ext cx="4389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🔊  Plays sounds in games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251960" y="2660904"/>
            <a:ext cx="4572000" cy="685800"/>
          </a:xfrm>
          <a:prstGeom prst="roundRect">
            <a:avLst>
              <a:gd name="adj" fmla="val 13333"/>
            </a:avLst>
          </a:prstGeom>
          <a:solidFill>
            <a:srgbClr val="FEF3E9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343400" y="2660904"/>
            <a:ext cx="4389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🔊  Lets you hear people talk in video calls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251960" y="3465576"/>
            <a:ext cx="4572000" cy="685800"/>
          </a:xfrm>
          <a:prstGeom prst="roundRect">
            <a:avLst>
              <a:gd name="adj" fmla="val 13333"/>
            </a:avLst>
          </a:prstGeom>
          <a:solidFill>
            <a:srgbClr val="FEF3E9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343400" y="3465576"/>
            <a:ext cx="4389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🔊  Reads out text from the computer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251960" y="4251960"/>
            <a:ext cx="4572000" cy="685800"/>
          </a:xfrm>
          <a:prstGeom prst="roundRect">
            <a:avLst>
              <a:gd name="adj" fmla="val 13333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297680" y="4251960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✓  — It plays sounds FROM the computer!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320040" y="468172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7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🎵  You can hear my voice right now — that is a speaker!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ound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🖨️  Output Device 3 — The Printer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3657600" cy="3657600"/>
          </a:xfrm>
          <a:prstGeom prst="ellipse">
            <a:avLst/>
          </a:prstGeom>
          <a:solidFill>
            <a:srgbClr val="FEF3E9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508760"/>
            <a:ext cx="2651760" cy="26517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251960" y="1051560"/>
            <a:ext cx="4572000" cy="685800"/>
          </a:xfrm>
          <a:prstGeom prst="roundRect">
            <a:avLst>
              <a:gd name="adj" fmla="val 13333"/>
            </a:avLst>
          </a:prstGeom>
          <a:solidFill>
            <a:srgbClr val="FEF3E9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343400" y="1051560"/>
            <a:ext cx="4389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🖨️  Prints documents on paper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251960" y="1856232"/>
            <a:ext cx="4572000" cy="685800"/>
          </a:xfrm>
          <a:prstGeom prst="roundRect">
            <a:avLst>
              <a:gd name="adj" fmla="val 13333"/>
            </a:avLst>
          </a:prstGeom>
          <a:solidFill>
            <a:srgbClr val="FEF3E9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343400" y="1856232"/>
            <a:ext cx="4389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🖨️  Prints homework and school work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251960" y="2660904"/>
            <a:ext cx="4572000" cy="685800"/>
          </a:xfrm>
          <a:prstGeom prst="roundRect">
            <a:avLst>
              <a:gd name="adj" fmla="val 13333"/>
            </a:avLst>
          </a:prstGeom>
          <a:solidFill>
            <a:srgbClr val="FEF3E9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343400" y="2660904"/>
            <a:ext cx="4389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🖨️  Prints photos and pictures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251960" y="3465576"/>
            <a:ext cx="4572000" cy="685800"/>
          </a:xfrm>
          <a:prstGeom prst="roundRect">
            <a:avLst>
              <a:gd name="adj" fmla="val 13333"/>
            </a:avLst>
          </a:prstGeom>
          <a:solidFill>
            <a:srgbClr val="FEF3E9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343400" y="3465576"/>
            <a:ext cx="4389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🖨️  Turns computer information into paper!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251960" y="4251960"/>
            <a:ext cx="4572000" cy="685800"/>
          </a:xfrm>
          <a:prstGeom prst="roundRect">
            <a:avLst>
              <a:gd name="adj" fmla="val 13333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297680" y="4251960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✓  — It brings information OUT of the computer!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320040" y="468172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97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🤔  Have you ever used a printer at home or school?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All OUTPUT Devices — Can You Name Them?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987552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7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= Receiving information FROM the computer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77240" y="1554480"/>
            <a:ext cx="2331720" cy="3200400"/>
          </a:xfrm>
          <a:prstGeom prst="roundRect">
            <a:avLst>
              <a:gd name="adj" fmla="val 5490"/>
            </a:avLst>
          </a:prstGeom>
          <a:solidFill>
            <a:srgbClr val="FEF3E9"/>
          </a:solidFill>
          <a:ln w="12700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261872" y="1719072"/>
            <a:ext cx="1371600" cy="1371600"/>
          </a:xfrm>
          <a:prstGeom prst="ellipse">
            <a:avLst/>
          </a:prstGeom>
          <a:solidFill>
            <a:srgbClr val="F4A261">
              <a:alpha val="80000"/>
            </a:srgbClr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3312" y="1810512"/>
            <a:ext cx="1188720" cy="11887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315468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7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68680" y="3657600"/>
            <a:ext cx="2148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0D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SEE pictures and text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1673352" y="4526280"/>
            <a:ext cx="530352" cy="530352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673352" y="452628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3429000" y="1554480"/>
            <a:ext cx="2331720" cy="3200400"/>
          </a:xfrm>
          <a:prstGeom prst="roundRect">
            <a:avLst>
              <a:gd name="adj" fmla="val 5490"/>
            </a:avLst>
          </a:prstGeom>
          <a:solidFill>
            <a:srgbClr val="FEF3E9"/>
          </a:solidFill>
          <a:ln w="12700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913632" y="1719072"/>
            <a:ext cx="1371600" cy="1371600"/>
          </a:xfrm>
          <a:prstGeom prst="ellipse">
            <a:avLst/>
          </a:prstGeom>
          <a:solidFill>
            <a:srgbClr val="F4A261">
              <a:alpha val="80000"/>
            </a:srgbClr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5072" y="1810512"/>
            <a:ext cx="1188720" cy="11887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429000" y="315468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7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Speakers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3520440" y="3657600"/>
            <a:ext cx="2148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0D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HEAR sound and music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4325112" y="4526280"/>
            <a:ext cx="530352" cy="530352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325112" y="452628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6080760" y="1554480"/>
            <a:ext cx="2331720" cy="3200400"/>
          </a:xfrm>
          <a:prstGeom prst="roundRect">
            <a:avLst>
              <a:gd name="adj" fmla="val 5490"/>
            </a:avLst>
          </a:prstGeom>
          <a:solidFill>
            <a:srgbClr val="FEF3E9"/>
          </a:solidFill>
          <a:ln w="12700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565392" y="1719072"/>
            <a:ext cx="1371600" cy="1371600"/>
          </a:xfrm>
          <a:prstGeom prst="ellipse">
            <a:avLst/>
          </a:prstGeom>
          <a:solidFill>
            <a:srgbClr val="F4A261">
              <a:alpha val="80000"/>
            </a:srgbClr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6832" y="1810512"/>
            <a:ext cx="1188720" cy="118872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080760" y="315468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7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Printer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6172200" y="3657600"/>
            <a:ext cx="2148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0D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READ pages on paper</a:t>
            </a:r>
            <a:endParaRPr lang="en-US" sz="1250" dirty="0"/>
          </a:p>
        </p:txBody>
      </p:sp>
      <p:sp>
        <p:nvSpPr>
          <p:cNvPr id="24" name="Shape 19"/>
          <p:cNvSpPr/>
          <p:nvPr/>
        </p:nvSpPr>
        <p:spPr>
          <a:xfrm>
            <a:off x="6976872" y="4526280"/>
            <a:ext cx="530352" cy="530352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6976872" y="452628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6" name="Text 21"/>
          <p:cNvSpPr/>
          <p:nvPr/>
        </p:nvSpPr>
        <p:spPr>
          <a:xfrm>
            <a:off x="320040" y="4864608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7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👉  Point at each one — can you say what it does?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21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97280"/>
            <a:ext cx="4114800" cy="4114800"/>
          </a:xfrm>
          <a:prstGeom prst="ellipse">
            <a:avLst/>
          </a:prstGeom>
          <a:solidFill>
            <a:srgbClr val="033740"/>
          </a:solidFill>
          <a:ln w="12700">
            <a:solidFill>
              <a:srgbClr val="0337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3200400"/>
            <a:ext cx="3200400" cy="3200400"/>
          </a:xfrm>
          <a:prstGeom prst="ellipse">
            <a:avLst/>
          </a:prstGeom>
          <a:solidFill>
            <a:srgbClr val="033740"/>
          </a:solidFill>
          <a:ln w="12700">
            <a:solidFill>
              <a:srgbClr val="03374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Simple Rule 💡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3840480" cy="3200400"/>
          </a:xfrm>
          <a:prstGeom prst="roundRect">
            <a:avLst>
              <a:gd name="adj" fmla="val 5143"/>
            </a:avLst>
          </a:prstGeom>
          <a:solidFill>
            <a:srgbClr val="F96167">
              <a:alpha val="85000"/>
            </a:srgbClr>
          </a:solidFill>
          <a:ln w="12700">
            <a:solidFill>
              <a:srgbClr val="F96167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5880" y="1371600"/>
            <a:ext cx="1188720" cy="11887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260604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457200" y="329184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tell the computer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57200" y="406908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Keyboard · Mouse · Mic · Camera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297680" y="2286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⟷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4937760" y="1143000"/>
            <a:ext cx="3840480" cy="3200400"/>
          </a:xfrm>
          <a:prstGeom prst="roundRect">
            <a:avLst>
              <a:gd name="adj" fmla="val 5143"/>
            </a:avLst>
          </a:prstGeom>
          <a:solidFill>
            <a:srgbClr val="F4A261">
              <a:alpha val="85000"/>
            </a:srgbClr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371600"/>
            <a:ext cx="1188720" cy="11887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937760" y="260604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3400" dirty="0"/>
          </a:p>
        </p:txBody>
      </p:sp>
      <p:sp>
        <p:nvSpPr>
          <p:cNvPr id="14" name="Text 10"/>
          <p:cNvSpPr/>
          <p:nvPr/>
        </p:nvSpPr>
        <p:spPr>
          <a:xfrm>
            <a:off x="5029200" y="329184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computer tells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something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5029200" y="406908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· Speakers · Printer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365760" y="4480560"/>
            <a:ext cx="8412480" cy="502920"/>
          </a:xfrm>
          <a:prstGeom prst="roundRect">
            <a:avLst>
              <a:gd name="adj" fmla="val 18182"/>
            </a:avLst>
          </a:prstGeom>
          <a:solidFill>
            <a:srgbClr val="028090">
              <a:alpha val="80000"/>
            </a:srgbClr>
          </a:solidFill>
          <a:ln w="12700">
            <a:solidFill>
              <a:srgbClr val="5DB8C4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57200" y="44805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way to remember: INPUT goes IN  —  OUTPUT comes OUT! 🎯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ound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🙋  Activity — Raise Your Hands!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87552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E0F4F6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87552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1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✋ ONE hand up = INPUT      ✋✋ TWO hands up = OUTPUT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347472" y="1874520"/>
            <a:ext cx="2697480" cy="1371600"/>
          </a:xfrm>
          <a:prstGeom prst="roundRect">
            <a:avLst>
              <a:gd name="adj" fmla="val 8000"/>
            </a:avLst>
          </a:prstGeom>
          <a:solidFill>
            <a:srgbClr val="FEE8E9"/>
          </a:solidFill>
          <a:ln w="12700">
            <a:solidFill>
              <a:srgbClr val="F96167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984248"/>
            <a:ext cx="1143000" cy="1143000"/>
          </a:xfrm>
          <a:prstGeom prst="ellipse">
            <a:avLst/>
          </a:prstGeom>
          <a:solidFill>
            <a:srgbClr val="F96167">
              <a:alpha val="80000"/>
            </a:srgbClr>
          </a:solidFill>
          <a:ln w="12700">
            <a:solidFill>
              <a:srgbClr val="F96167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075688"/>
            <a:ext cx="960120" cy="9601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73352" y="1965960"/>
            <a:ext cx="12984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Keyboard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1673352" y="2532888"/>
            <a:ext cx="1298448" cy="530352"/>
          </a:xfrm>
          <a:prstGeom prst="roundRect">
            <a:avLst>
              <a:gd name="adj" fmla="val 13793"/>
            </a:avLst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673352" y="2532888"/>
            <a:ext cx="129844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246120" y="1874520"/>
            <a:ext cx="2697480" cy="1371600"/>
          </a:xfrm>
          <a:prstGeom prst="roundRect">
            <a:avLst>
              <a:gd name="adj" fmla="val 8000"/>
            </a:avLst>
          </a:prstGeom>
          <a:solidFill>
            <a:srgbClr val="FEF3E9"/>
          </a:solidFill>
          <a:ln w="12700">
            <a:solidFill>
              <a:srgbClr val="F4A26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355848" y="1984248"/>
            <a:ext cx="1143000" cy="1143000"/>
          </a:xfrm>
          <a:prstGeom prst="ellipse">
            <a:avLst/>
          </a:prstGeom>
          <a:solidFill>
            <a:srgbClr val="F4A261">
              <a:alpha val="80000"/>
            </a:srgbClr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7288" y="2075688"/>
            <a:ext cx="960120" cy="9601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572000" y="1965960"/>
            <a:ext cx="12984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4572000" y="2532888"/>
            <a:ext cx="1298448" cy="530352"/>
          </a:xfrm>
          <a:prstGeom prst="roundRect">
            <a:avLst>
              <a:gd name="adj" fmla="val 13793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572000" y="2532888"/>
            <a:ext cx="129844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6144768" y="1874520"/>
            <a:ext cx="2697480" cy="1371600"/>
          </a:xfrm>
          <a:prstGeom prst="roundRect">
            <a:avLst>
              <a:gd name="adj" fmla="val 8000"/>
            </a:avLst>
          </a:prstGeom>
          <a:solidFill>
            <a:srgbClr val="FEE8E9"/>
          </a:solidFill>
          <a:ln w="12700">
            <a:solidFill>
              <a:srgbClr val="F96167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254496" y="1984248"/>
            <a:ext cx="1143000" cy="1143000"/>
          </a:xfrm>
          <a:prstGeom prst="ellipse">
            <a:avLst/>
          </a:prstGeom>
          <a:solidFill>
            <a:srgbClr val="F96167">
              <a:alpha val="80000"/>
            </a:srgbClr>
          </a:solidFill>
          <a:ln w="12700">
            <a:solidFill>
              <a:srgbClr val="F96167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5936" y="2075688"/>
            <a:ext cx="960120" cy="9601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7470648" y="1965960"/>
            <a:ext cx="12984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Microphone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7470648" y="2532888"/>
            <a:ext cx="1298448" cy="530352"/>
          </a:xfrm>
          <a:prstGeom prst="roundRect">
            <a:avLst>
              <a:gd name="adj" fmla="val 13793"/>
            </a:avLst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7470648" y="2532888"/>
            <a:ext cx="129844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347472" y="3383280"/>
            <a:ext cx="2697480" cy="1371600"/>
          </a:xfrm>
          <a:prstGeom prst="roundRect">
            <a:avLst>
              <a:gd name="adj" fmla="val 8000"/>
            </a:avLst>
          </a:prstGeom>
          <a:solidFill>
            <a:srgbClr val="FEF3E9"/>
          </a:solidFill>
          <a:ln w="12700">
            <a:solidFill>
              <a:srgbClr val="F4A26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457200" y="3493008"/>
            <a:ext cx="1143000" cy="1143000"/>
          </a:xfrm>
          <a:prstGeom prst="ellipse">
            <a:avLst/>
          </a:prstGeom>
          <a:solidFill>
            <a:srgbClr val="F4A261">
              <a:alpha val="80000"/>
            </a:srgbClr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584448"/>
            <a:ext cx="960120" cy="96012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673352" y="3474720"/>
            <a:ext cx="12984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Speakers</a:t>
            </a:r>
            <a:endParaRPr lang="en-US" sz="1300" dirty="0"/>
          </a:p>
        </p:txBody>
      </p:sp>
      <p:sp>
        <p:nvSpPr>
          <p:cNvPr id="28" name="Shape 22"/>
          <p:cNvSpPr/>
          <p:nvPr/>
        </p:nvSpPr>
        <p:spPr>
          <a:xfrm>
            <a:off x="1673352" y="4041648"/>
            <a:ext cx="1298448" cy="530352"/>
          </a:xfrm>
          <a:prstGeom prst="roundRect">
            <a:avLst>
              <a:gd name="adj" fmla="val 13793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1673352" y="4041648"/>
            <a:ext cx="129844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3246120" y="3383280"/>
            <a:ext cx="2697480" cy="1371600"/>
          </a:xfrm>
          <a:prstGeom prst="roundRect">
            <a:avLst>
              <a:gd name="adj" fmla="val 8000"/>
            </a:avLst>
          </a:prstGeom>
          <a:solidFill>
            <a:srgbClr val="FEE8E9"/>
          </a:solidFill>
          <a:ln w="12700">
            <a:solidFill>
              <a:srgbClr val="F96167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3355848" y="3493008"/>
            <a:ext cx="1143000" cy="1143000"/>
          </a:xfrm>
          <a:prstGeom prst="ellipse">
            <a:avLst/>
          </a:prstGeom>
          <a:solidFill>
            <a:srgbClr val="F96167">
              <a:alpha val="80000"/>
            </a:srgbClr>
          </a:solidFill>
          <a:ln w="12700">
            <a:solidFill>
              <a:srgbClr val="F96167"/>
            </a:solidFill>
            <a:prstDash val="solid"/>
          </a:ln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47288" y="3584448"/>
            <a:ext cx="960120" cy="96012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4572000" y="3474720"/>
            <a:ext cx="12984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</a:t>
            </a:r>
            <a:endParaRPr lang="en-US" sz="1300" dirty="0"/>
          </a:p>
        </p:txBody>
      </p:sp>
      <p:sp>
        <p:nvSpPr>
          <p:cNvPr id="34" name="Shape 27"/>
          <p:cNvSpPr/>
          <p:nvPr/>
        </p:nvSpPr>
        <p:spPr>
          <a:xfrm>
            <a:off x="4572000" y="4041648"/>
            <a:ext cx="1298448" cy="530352"/>
          </a:xfrm>
          <a:prstGeom prst="roundRect">
            <a:avLst>
              <a:gd name="adj" fmla="val 13793"/>
            </a:avLst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5" name="Text 28"/>
          <p:cNvSpPr/>
          <p:nvPr/>
        </p:nvSpPr>
        <p:spPr>
          <a:xfrm>
            <a:off x="4572000" y="4041648"/>
            <a:ext cx="129844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200" dirty="0"/>
          </a:p>
        </p:txBody>
      </p:sp>
      <p:sp>
        <p:nvSpPr>
          <p:cNvPr id="36" name="Shape 29"/>
          <p:cNvSpPr/>
          <p:nvPr/>
        </p:nvSpPr>
        <p:spPr>
          <a:xfrm>
            <a:off x="6144768" y="3383280"/>
            <a:ext cx="2697480" cy="1371600"/>
          </a:xfrm>
          <a:prstGeom prst="roundRect">
            <a:avLst>
              <a:gd name="adj" fmla="val 8000"/>
            </a:avLst>
          </a:prstGeom>
          <a:solidFill>
            <a:srgbClr val="FEF3E9"/>
          </a:solidFill>
          <a:ln w="12700">
            <a:solidFill>
              <a:srgbClr val="F4A26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37" name="Shape 30"/>
          <p:cNvSpPr/>
          <p:nvPr/>
        </p:nvSpPr>
        <p:spPr>
          <a:xfrm>
            <a:off x="6254496" y="3493008"/>
            <a:ext cx="1143000" cy="1143000"/>
          </a:xfrm>
          <a:prstGeom prst="ellipse">
            <a:avLst/>
          </a:prstGeom>
          <a:solidFill>
            <a:srgbClr val="F4A261">
              <a:alpha val="80000"/>
            </a:srgbClr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45936" y="3584448"/>
            <a:ext cx="960120" cy="960120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7470648" y="3474720"/>
            <a:ext cx="12984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Printer</a:t>
            </a:r>
            <a:endParaRPr lang="en-US" sz="1300" dirty="0"/>
          </a:p>
        </p:txBody>
      </p:sp>
      <p:sp>
        <p:nvSpPr>
          <p:cNvPr id="40" name="Shape 32"/>
          <p:cNvSpPr/>
          <p:nvPr/>
        </p:nvSpPr>
        <p:spPr>
          <a:xfrm>
            <a:off x="7470648" y="4041648"/>
            <a:ext cx="1298448" cy="530352"/>
          </a:xfrm>
          <a:prstGeom prst="roundRect">
            <a:avLst>
              <a:gd name="adj" fmla="val 13793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1" name="Text 33"/>
          <p:cNvSpPr/>
          <p:nvPr/>
        </p:nvSpPr>
        <p:spPr>
          <a:xfrm>
            <a:off x="7470648" y="4041648"/>
            <a:ext cx="129844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21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97280"/>
            <a:ext cx="4114800" cy="4114800"/>
          </a:xfrm>
          <a:prstGeom prst="ellipse">
            <a:avLst/>
          </a:prstGeom>
          <a:solidFill>
            <a:srgbClr val="033740"/>
          </a:solidFill>
          <a:ln w="12700">
            <a:solidFill>
              <a:srgbClr val="0337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3200400"/>
            <a:ext cx="3200400" cy="3200400"/>
          </a:xfrm>
          <a:prstGeom prst="ellipse">
            <a:avLst/>
          </a:prstGeom>
          <a:solidFill>
            <a:srgbClr val="033740"/>
          </a:solidFill>
          <a:ln w="12700">
            <a:solidFill>
              <a:srgbClr val="03374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 Quiz Time — Are You Ready?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93268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INPUT or OUTPUT in the chat — GO! 🚀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508760"/>
            <a:ext cx="5303520" cy="713232"/>
          </a:xfrm>
          <a:prstGeom prst="roundRect">
            <a:avLst>
              <a:gd name="adj" fmla="val 12821"/>
            </a:avLst>
          </a:prstGeom>
          <a:solidFill>
            <a:srgbClr val="F96167">
              <a:alpha val="20000"/>
            </a:srgbClr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508760"/>
            <a:ext cx="5166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Is a keyboard INPUT or OUTPUT?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806440" y="1508760"/>
            <a:ext cx="2971800" cy="713232"/>
          </a:xfrm>
          <a:prstGeom prst="roundRect">
            <a:avLst>
              <a:gd name="adj" fmla="val 12821"/>
            </a:avLst>
          </a:prstGeom>
          <a:solidFill>
            <a:srgbClr val="F96167">
              <a:alpha val="50000"/>
            </a:srgbClr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97880" y="1508760"/>
            <a:ext cx="2834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INPUT ✓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350008"/>
            <a:ext cx="5303520" cy="713232"/>
          </a:xfrm>
          <a:prstGeom prst="roundRect">
            <a:avLst>
              <a:gd name="adj" fmla="val 12821"/>
            </a:avLst>
          </a:prstGeom>
          <a:solidFill>
            <a:srgbClr val="F4A261">
              <a:alpha val="20000"/>
            </a:srgbClr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350008"/>
            <a:ext cx="5166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Is a monitor INPUT or OUTPUT?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806440" y="2350008"/>
            <a:ext cx="2971800" cy="713232"/>
          </a:xfrm>
          <a:prstGeom prst="roundRect">
            <a:avLst>
              <a:gd name="adj" fmla="val 12821"/>
            </a:avLst>
          </a:prstGeom>
          <a:solidFill>
            <a:srgbClr val="F4A261">
              <a:alpha val="50000"/>
            </a:srgbClr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97880" y="2350008"/>
            <a:ext cx="2834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OUTPUT ✓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191256"/>
            <a:ext cx="5303520" cy="713232"/>
          </a:xfrm>
          <a:prstGeom prst="roundRect">
            <a:avLst>
              <a:gd name="adj" fmla="val 12821"/>
            </a:avLst>
          </a:prstGeom>
          <a:solidFill>
            <a:srgbClr val="5DB8C4">
              <a:alpha val="20000"/>
            </a:srgbClr>
          </a:solidFill>
          <a:ln w="12700">
            <a:solidFill>
              <a:srgbClr val="5DB8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191256"/>
            <a:ext cx="5166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What does a microphone do?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806440" y="3191256"/>
            <a:ext cx="2971800" cy="713232"/>
          </a:xfrm>
          <a:prstGeom prst="roundRect">
            <a:avLst>
              <a:gd name="adj" fmla="val 12821"/>
            </a:avLst>
          </a:prstGeom>
          <a:solidFill>
            <a:srgbClr val="5DB8C4">
              <a:alpha val="50000"/>
            </a:srgbClr>
          </a:solidFill>
          <a:ln w="12700">
            <a:solidFill>
              <a:srgbClr val="5DB8C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97880" y="3191256"/>
            <a:ext cx="2834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voice TO the computer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4032504"/>
            <a:ext cx="5303520" cy="713232"/>
          </a:xfrm>
          <a:prstGeom prst="roundRect">
            <a:avLst>
              <a:gd name="adj" fmla="val 12821"/>
            </a:avLst>
          </a:prstGeom>
          <a:solidFill>
            <a:srgbClr val="2DC653">
              <a:alpha val="20000"/>
            </a:srgbClr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4032504"/>
            <a:ext cx="5166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What does a printer do?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806440" y="4032504"/>
            <a:ext cx="2971800" cy="713232"/>
          </a:xfrm>
          <a:prstGeom prst="roundRect">
            <a:avLst>
              <a:gd name="adj" fmla="val 12821"/>
            </a:avLst>
          </a:prstGeom>
          <a:solidFill>
            <a:srgbClr val="2DC653">
              <a:alpha val="50000"/>
            </a:srgbClr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97880" y="4032504"/>
            <a:ext cx="2834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Prints information OUT of the computer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4956048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🎉  Amazing — you all learned so much today!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ound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Homework + See You Next Time!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069080" cy="38404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F96167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4069080" cy="594360"/>
          </a:xfrm>
          <a:prstGeom prst="roundRect">
            <a:avLst>
              <a:gd name="adj" fmla="val 21538"/>
            </a:avLst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05840"/>
            <a:ext cx="3977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Task 1 — Sort the Devices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691640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two columns on paper: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D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 and  OUTPUT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D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write each device under the right column: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578608"/>
            <a:ext cx="1783080" cy="365760"/>
          </a:xfrm>
          <a:prstGeom prst="roundRect">
            <a:avLst>
              <a:gd name="adj" fmla="val 17500"/>
            </a:avLst>
          </a:prstGeom>
          <a:solidFill>
            <a:srgbClr val="FEE8E9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578608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Keyboard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468880" y="2578608"/>
            <a:ext cx="1783080" cy="365760"/>
          </a:xfrm>
          <a:prstGeom prst="roundRect">
            <a:avLst>
              <a:gd name="adj" fmla="val 17500"/>
            </a:avLst>
          </a:prstGeom>
          <a:solidFill>
            <a:srgbClr val="FEE8E9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68880" y="2578608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Mouse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035808"/>
            <a:ext cx="1783080" cy="365760"/>
          </a:xfrm>
          <a:prstGeom prst="roundRect">
            <a:avLst>
              <a:gd name="adj" fmla="val 17500"/>
            </a:avLst>
          </a:prstGeom>
          <a:solidFill>
            <a:srgbClr val="FEE8E9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035808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Microphone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468880" y="3035808"/>
            <a:ext cx="1783080" cy="365760"/>
          </a:xfrm>
          <a:prstGeom prst="roundRect">
            <a:avLst>
              <a:gd name="adj" fmla="val 17500"/>
            </a:avLst>
          </a:prstGeom>
          <a:solidFill>
            <a:srgbClr val="FEE8E9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68880" y="3035808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Camera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493008"/>
            <a:ext cx="1783080" cy="365760"/>
          </a:xfrm>
          <a:prstGeom prst="roundRect">
            <a:avLst>
              <a:gd name="adj" fmla="val 17500"/>
            </a:avLst>
          </a:prstGeom>
          <a:solidFill>
            <a:srgbClr val="FEE8E9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493008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Monitor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468880" y="3493008"/>
            <a:ext cx="1783080" cy="365760"/>
          </a:xfrm>
          <a:prstGeom prst="roundRect">
            <a:avLst>
              <a:gd name="adj" fmla="val 17500"/>
            </a:avLst>
          </a:prstGeom>
          <a:solidFill>
            <a:srgbClr val="FEE8E9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68880" y="3493008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Speakers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508760" y="3959352"/>
            <a:ext cx="1783080" cy="365760"/>
          </a:xfrm>
          <a:prstGeom prst="roundRect">
            <a:avLst>
              <a:gd name="adj" fmla="val 17500"/>
            </a:avLst>
          </a:prstGeom>
          <a:solidFill>
            <a:srgbClr val="FEE8E9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508760" y="3959352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Printer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09160" y="1005840"/>
            <a:ext cx="4069080" cy="38404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09160" y="1005840"/>
            <a:ext cx="4069080" cy="594360"/>
          </a:xfrm>
          <a:prstGeom prst="roundRect">
            <a:avLst>
              <a:gd name="adj" fmla="val 21538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1005840"/>
            <a:ext cx="3977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 Task 2 — Draw &amp; Label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846320" y="1691640"/>
            <a:ext cx="3794760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D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your computer setup at home.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D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each part as INPUT or OUTPUT.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D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star ⭐ if you can name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D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input AND 3 output devices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D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memory!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65760" y="4828032"/>
            <a:ext cx="8412480" cy="201168"/>
          </a:xfrm>
          <a:prstGeom prst="roundRect">
            <a:avLst>
              <a:gd name="adj" fmla="val 27273"/>
            </a:avLst>
          </a:prstGeom>
          <a:solidFill>
            <a:srgbClr val="E0F4F6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8280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1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Next Session: How does a computer THINK? We will learn about the CPU and Memory!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2026-06-22T15:47:08Z</dcterms:created>
  <dcterms:modified xsi:type="dcterms:W3CDTF">2026-06-22T15:47:08Z</dcterms:modified>
</cp:coreProperties>
</file>